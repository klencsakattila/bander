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1" r:id="rId6"/>
    <p:sldId id="270" r:id="rId7"/>
    <p:sldId id="266" r:id="rId8"/>
    <p:sldId id="272" r:id="rId9"/>
    <p:sldId id="265" r:id="rId10"/>
    <p:sldId id="273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F892C"/>
    <a:srgbClr val="FFF3E0"/>
    <a:srgbClr val="2A9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B1BEFA-0579-67D1-2AF7-C8C9EDFBB4C6}" v="38" dt="2026-04-16T17:20:47.569"/>
    <p1510:client id="{C49AE5D1-A586-91E5-ABBB-CCC17B277AB3}" v="141" dt="2026-04-16T11:50:22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 descr="A képen koncert, hangszer, Rockkoncert, muzsikus látható&#10;&#10;Lehet, hogy az AI által létrehozott tartalom helytelen.">
            <a:extLst>
              <a:ext uri="{FF2B5EF4-FFF2-40B4-BE49-F238E27FC236}">
                <a16:creationId xmlns:a16="http://schemas.microsoft.com/office/drawing/2014/main" id="{03F8A7D6-801C-4086-7F8B-8282A4C47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080" y="299803"/>
            <a:ext cx="6821905" cy="6858000"/>
          </a:xfrm>
          <a:prstGeom prst="rect">
            <a:avLst/>
          </a:prstGeom>
        </p:spPr>
      </p:pic>
      <p:pic>
        <p:nvPicPr>
          <p:cNvPr id="6" name="Kép 5" descr="A képen hangszer, kültéri, személy, zene látható&#10;&#10;Lehet, hogy az AI által létrehozott tartalom helytelen.">
            <a:extLst>
              <a:ext uri="{FF2B5EF4-FFF2-40B4-BE49-F238E27FC236}">
                <a16:creationId xmlns:a16="http://schemas.microsoft.com/office/drawing/2014/main" id="{0DD7816C-5B49-EE58-AD67-F04AEAC81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0869" y="0"/>
            <a:ext cx="6858000" cy="6858000"/>
          </a:xfrm>
          <a:prstGeom prst="rect">
            <a:avLst/>
          </a:prstGeom>
        </p:spPr>
      </p:pic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B71B6BD1-99D5-377D-D7D0-4C377B705AE3}"/>
              </a:ext>
            </a:extLst>
          </p:cNvPr>
          <p:cNvSpPr/>
          <p:nvPr/>
        </p:nvSpPr>
        <p:spPr>
          <a:xfrm>
            <a:off x="3306509" y="922541"/>
            <a:ext cx="5571370" cy="4732421"/>
          </a:xfrm>
          <a:prstGeom prst="roundRect">
            <a:avLst/>
          </a:prstGeom>
          <a:solidFill>
            <a:srgbClr val="ED7D31">
              <a:alpha val="56000"/>
            </a:srgbClr>
          </a:solidFill>
          <a:ln w="28575">
            <a:solidFill>
              <a:srgbClr val="FF89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89"/>
            <a:ext cx="9144000" cy="2387600"/>
          </a:xfrm>
        </p:spPr>
        <p:txBody>
          <a:bodyPr/>
          <a:lstStyle/>
          <a:p>
            <a:r>
              <a:rPr lang="hu-HU">
                <a:solidFill>
                  <a:schemeClr val="bg1"/>
                </a:solidFill>
                <a:ea typeface="+mj-lt"/>
                <a:cs typeface="+mj-lt"/>
              </a:rPr>
              <a:t>BANDER</a:t>
            </a:r>
            <a:endParaRPr lang="hu-HU">
              <a:solidFill>
                <a:schemeClr val="bg1"/>
              </a:solidFill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73C044A-9323-BE43-D4B2-BF9483B09221}"/>
              </a:ext>
            </a:extLst>
          </p:cNvPr>
          <p:cNvSpPr txBox="1"/>
          <p:nvPr/>
        </p:nvSpPr>
        <p:spPr>
          <a:xfrm>
            <a:off x="2853234" y="2546134"/>
            <a:ext cx="397701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b="1">
                <a:solidFill>
                  <a:schemeClr val="bg1"/>
                </a:solidFill>
              </a:rPr>
              <a:t>Készítette:</a:t>
            </a:r>
            <a:br>
              <a:rPr lang="hu-HU" dirty="0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Klencsák Attila</a:t>
            </a:r>
            <a:br>
              <a:rPr lang="hu-HU" dirty="0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Karácsony Kornél István</a:t>
            </a:r>
            <a:endParaRPr lang="hu-HU" u="sng" dirty="0">
              <a:solidFill>
                <a:schemeClr val="bg1"/>
              </a:solidFill>
            </a:endParaRPr>
          </a:p>
        </p:txBody>
      </p:sp>
      <p:pic>
        <p:nvPicPr>
          <p:cNvPr id="7" name="Kép 6" descr="A képen szöveg, képernyőkép, narancs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DB945D32-138D-6B59-92DE-D392A44A9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12"/>
            <a:ext cx="12192000" cy="585986"/>
          </a:xfrm>
          <a:prstGeom prst="rect">
            <a:avLst/>
          </a:prstGeom>
        </p:spPr>
      </p:pic>
      <p:pic>
        <p:nvPicPr>
          <p:cNvPr id="9" name="Kép 8" descr="A képen képernyőkép, narancs, Grafik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0E5A7A49-25EF-C88D-6C9D-400401F7E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39087"/>
            <a:ext cx="12192000" cy="920316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1D3817D7-9743-E8E8-7BB6-B4D7CB102B59}"/>
              </a:ext>
            </a:extLst>
          </p:cNvPr>
          <p:cNvSpPr txBox="1"/>
          <p:nvPr/>
        </p:nvSpPr>
        <p:spPr>
          <a:xfrm>
            <a:off x="3748233" y="4049351"/>
            <a:ext cx="46990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>
                <a:solidFill>
                  <a:schemeClr val="bg1"/>
                </a:solidFill>
              </a:rPr>
              <a:t>Bolyai János Műszaki Technikum és Kollégium</a:t>
            </a:r>
          </a:p>
        </p:txBody>
      </p:sp>
      <p:pic>
        <p:nvPicPr>
          <p:cNvPr id="8" name="Kép 7" descr="A képen szöveg, embléma, szimbólum, Védjegy látható&#10;&#10;Lehet, hogy az AI által létrehozott tartalom helytelen.">
            <a:extLst>
              <a:ext uri="{FF2B5EF4-FFF2-40B4-BE49-F238E27FC236}">
                <a16:creationId xmlns:a16="http://schemas.microsoft.com/office/drawing/2014/main" id="{7F381BB3-019F-CCE6-73DC-CBF2BDB32A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6956" y="4538579"/>
            <a:ext cx="831403" cy="842211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A9ABF332-4A59-B737-0F5D-A691EE82CC85}"/>
              </a:ext>
            </a:extLst>
          </p:cNvPr>
          <p:cNvSpPr txBox="1"/>
          <p:nvPr/>
        </p:nvSpPr>
        <p:spPr>
          <a:xfrm>
            <a:off x="5804440" y="2543513"/>
            <a:ext cx="354386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b="1">
                <a:solidFill>
                  <a:schemeClr val="bg1"/>
                </a:solidFill>
              </a:rPr>
              <a:t>Konzulens:</a:t>
            </a:r>
          </a:p>
          <a:p>
            <a:pPr algn="ctr"/>
            <a:r>
              <a:rPr lang="hu-HU">
                <a:solidFill>
                  <a:schemeClr val="bg1"/>
                </a:solidFill>
              </a:rPr>
              <a:t> Gombos Szabolcs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6AE9642-4660-B360-02F2-6F3AAB7AA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69" y="381935"/>
            <a:ext cx="4938223" cy="5974414"/>
          </a:xfrm>
        </p:spPr>
        <p:txBody>
          <a:bodyPr anchor="ctr">
            <a:normAutofit/>
          </a:bodyPr>
          <a:lstStyle/>
          <a:p>
            <a:r>
              <a:rPr lang="hu-HU" sz="4800" u="sng">
                <a:solidFill>
                  <a:srgbClr val="FFFFFF"/>
                </a:solidFill>
                <a:ea typeface="+mj-lt"/>
                <a:cs typeface="+mj-lt"/>
              </a:rPr>
              <a:t>A probléma</a:t>
            </a:r>
            <a:endParaRPr lang="hu-HU" sz="4800" u="sng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4366BDC-8CA8-A841-B6A5-56C3E1312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hu-HU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 zenészek számára nehéz megfelelő bandatagokat találni.</a:t>
            </a:r>
            <a:endParaRPr lang="hu-HU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hu-HU" sz="2000" b="1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hu-HU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Jelenlegi megoldások:</a:t>
            </a:r>
            <a:endParaRPr lang="hu-HU" sz="2000" b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közösségi média csoportok </a:t>
            </a:r>
            <a:endParaRPr lang="hu-HU" sz="2000" i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fórumok </a:t>
            </a:r>
            <a:endParaRPr lang="hu-HU" sz="2000" i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személyes kapcsolatok </a:t>
            </a:r>
            <a:endParaRPr lang="hu-HU" sz="2000" i="1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hu-HU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Ezek problémái:</a:t>
            </a:r>
            <a:endParaRPr lang="hu-HU" sz="2000" b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nem strukturált keresés </a:t>
            </a:r>
            <a:endParaRPr lang="hu-HU" sz="2000" i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nincs pontos szűrés </a:t>
            </a:r>
            <a:endParaRPr lang="hu-HU" sz="2000" i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hirdetések gyorsan eltűnnek </a:t>
            </a:r>
            <a:endParaRPr lang="hu-HU" sz="2000" i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hiányos felhasználói profilok</a:t>
            </a:r>
            <a:endParaRPr lang="hu-HU" sz="2000" i="1">
              <a:solidFill>
                <a:schemeClr val="tx1">
                  <a:alpha val="80000"/>
                </a:schemeClr>
              </a:solidFill>
            </a:endParaRPr>
          </a:p>
          <a:p>
            <a:endParaRPr lang="hu-HU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 descr="A képen szöveg, képernyőkép, narancs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464F8EC-D782-1B4C-1F3C-349483A29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"/>
            <a:ext cx="12192000" cy="585986"/>
          </a:xfrm>
          <a:prstGeom prst="rect">
            <a:avLst/>
          </a:prstGeom>
        </p:spPr>
      </p:pic>
      <p:pic>
        <p:nvPicPr>
          <p:cNvPr id="7" name="Kép 6" descr="A képen képernyőkép, narancs, Grafik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504CDAF-8243-8E7F-55E1-21EC66B22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9087"/>
            <a:ext cx="12192000" cy="920316"/>
          </a:xfrm>
          <a:prstGeom prst="rect">
            <a:avLst/>
          </a:prstGeom>
        </p:spPr>
      </p:pic>
      <p:pic>
        <p:nvPicPr>
          <p:cNvPr id="9" name="Ábra 8">
            <a:extLst>
              <a:ext uri="{FF2B5EF4-FFF2-40B4-BE49-F238E27FC236}">
                <a16:creationId xmlns:a16="http://schemas.microsoft.com/office/drawing/2014/main" id="{FEE650B3-54DF-E510-E1E3-E186E4C6F5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3019" y="2299577"/>
            <a:ext cx="460311" cy="460311"/>
          </a:xfrm>
          <a:prstGeom prst="rect">
            <a:avLst/>
          </a:prstGeom>
        </p:spPr>
      </p:pic>
      <p:pic>
        <p:nvPicPr>
          <p:cNvPr id="11" name="Kép 10" descr="A képen szimbólum, Grafika, sor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99C30637-E62B-4BAE-6518-9E1A7A4EEB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4193" y="2265363"/>
            <a:ext cx="536511" cy="536512"/>
          </a:xfrm>
          <a:prstGeom prst="rect">
            <a:avLst/>
          </a:prstGeom>
        </p:spPr>
      </p:pic>
      <p:pic>
        <p:nvPicPr>
          <p:cNvPr id="16" name="Kép 15" descr="A képen szimbólum, embléma, Grafik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89888B7-7E61-FFCC-81DB-AFA797673E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7357" y="2265365"/>
            <a:ext cx="583164" cy="536511"/>
          </a:xfrm>
          <a:prstGeom prst="rect">
            <a:avLst/>
          </a:prstGeom>
        </p:spPr>
      </p:pic>
      <p:pic>
        <p:nvPicPr>
          <p:cNvPr id="18" name="Kép 17" descr="A képen embléma, Betűtípus, Grafika, szimbólum látható&#10;&#10;Lehet, hogy az AI által létrehozott tartalom helytelen.">
            <a:extLst>
              <a:ext uri="{FF2B5EF4-FFF2-40B4-BE49-F238E27FC236}">
                <a16:creationId xmlns:a16="http://schemas.microsoft.com/office/drawing/2014/main" id="{01925400-66CE-1435-545F-CB307EFEC4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7118" y="2763542"/>
            <a:ext cx="475966" cy="451689"/>
          </a:xfrm>
          <a:prstGeom prst="rect">
            <a:avLst/>
          </a:prstGeom>
        </p:spPr>
      </p:pic>
      <p:sp>
        <p:nvSpPr>
          <p:cNvPr id="21" name="Fél keret 20">
            <a:extLst>
              <a:ext uri="{FF2B5EF4-FFF2-40B4-BE49-F238E27FC236}">
                <a16:creationId xmlns:a16="http://schemas.microsoft.com/office/drawing/2014/main" id="{3DA758E0-282D-89BD-DCCE-47C4F3414580}"/>
              </a:ext>
            </a:extLst>
          </p:cNvPr>
          <p:cNvSpPr/>
          <p:nvPr/>
        </p:nvSpPr>
        <p:spPr>
          <a:xfrm rot="16200000">
            <a:off x="9660691" y="2573276"/>
            <a:ext cx="375448" cy="366291"/>
          </a:xfrm>
          <a:prstGeom prst="halfFrame">
            <a:avLst/>
          </a:prstGeom>
          <a:solidFill>
            <a:srgbClr val="2A9D8F"/>
          </a:solidFill>
          <a:ln>
            <a:solidFill>
              <a:srgbClr val="FFF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2" name="Fél keret 21">
            <a:extLst>
              <a:ext uri="{FF2B5EF4-FFF2-40B4-BE49-F238E27FC236}">
                <a16:creationId xmlns:a16="http://schemas.microsoft.com/office/drawing/2014/main" id="{86188A31-CBC2-5921-E0D4-870C127C4B61}"/>
              </a:ext>
            </a:extLst>
          </p:cNvPr>
          <p:cNvSpPr/>
          <p:nvPr/>
        </p:nvSpPr>
        <p:spPr>
          <a:xfrm rot="5400000">
            <a:off x="11360537" y="2111679"/>
            <a:ext cx="375448" cy="366291"/>
          </a:xfrm>
          <a:prstGeom prst="halfFrame">
            <a:avLst/>
          </a:prstGeom>
          <a:solidFill>
            <a:srgbClr val="2A9D8F"/>
          </a:solidFill>
          <a:ln>
            <a:solidFill>
              <a:srgbClr val="FFF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521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E2772EB-5BFD-A112-91B7-4DC3EF59B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49" y="381935"/>
            <a:ext cx="5029663" cy="5974414"/>
          </a:xfrm>
        </p:spPr>
        <p:txBody>
          <a:bodyPr anchor="ctr">
            <a:normAutofit/>
          </a:bodyPr>
          <a:lstStyle/>
          <a:p>
            <a:r>
              <a:rPr lang="hu-HU" sz="4800" u="sng">
                <a:solidFill>
                  <a:srgbClr val="FFFFFF"/>
                </a:solidFill>
                <a:ea typeface="+mj-lt"/>
                <a:cs typeface="+mj-lt"/>
              </a:rPr>
              <a:t>Munkamegosztás</a:t>
            </a:r>
            <a:endParaRPr lang="hu-HU" sz="4800" u="sng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868FB5C-B293-2FAF-637D-C27578623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7391" y="-270337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hu-HU" sz="24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 Bander egy zenészek számára készült webalkalmazás.</a:t>
            </a:r>
            <a:endParaRPr lang="hu-HU" sz="2400" b="1">
              <a:solidFill>
                <a:srgbClr val="000000">
                  <a:alpha val="80000"/>
                </a:srgbClr>
              </a:solidFill>
            </a:endParaRPr>
          </a:p>
          <a:p>
            <a:pPr marL="342900" indent="-342900"/>
            <a:endParaRPr lang="hu-HU" sz="2000">
              <a:solidFill>
                <a:srgbClr val="000000">
                  <a:alpha val="80000"/>
                </a:srgbClr>
              </a:solidFill>
              <a:ea typeface="+mn-lt"/>
              <a:cs typeface="+mn-lt"/>
            </a:endParaRPr>
          </a:p>
          <a:p>
            <a:pPr marL="342900" indent="-342900"/>
            <a:endParaRPr lang="hu-HU" sz="2000" dirty="0">
              <a:solidFill>
                <a:schemeClr val="tx1">
                  <a:alpha val="80000"/>
                </a:schemeClr>
              </a:solidFill>
            </a:endParaRPr>
          </a:p>
          <a:p>
            <a:pPr marL="342900" indent="-342900"/>
            <a:endParaRPr lang="hu-HU" sz="2000" dirty="0">
              <a:solidFill>
                <a:schemeClr val="tx1">
                  <a:alpha val="80000"/>
                </a:schemeClr>
              </a:solidFill>
            </a:endParaRPr>
          </a:p>
          <a:p>
            <a:pPr marL="342900" indent="-342900"/>
            <a:r>
              <a:rPr lang="hu-HU" sz="2000" b="1">
                <a:solidFill>
                  <a:schemeClr val="tx1">
                    <a:alpha val="80000"/>
                  </a:schemeClr>
                </a:solidFill>
              </a:rPr>
              <a:t>Frontend:</a:t>
            </a:r>
            <a:br>
              <a:rPr lang="hu-HU" sz="2000" b="1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hu-HU" sz="2000" b="1">
                <a:solidFill>
                  <a:schemeClr val="tx1">
                    <a:alpha val="80000"/>
                  </a:schemeClr>
                </a:solidFill>
              </a:rPr>
              <a:t>Klencsák Attila</a:t>
            </a:r>
            <a:endParaRPr lang="hu-HU" sz="2000" b="1" dirty="0">
              <a:solidFill>
                <a:srgbClr val="000000">
                  <a:alpha val="80000"/>
                </a:srgbClr>
              </a:solidFill>
            </a:endParaRPr>
          </a:p>
          <a:p>
            <a:pPr marL="342900" indent="-342900"/>
            <a:r>
              <a:rPr lang="hu-HU" sz="2000" b="1">
                <a:solidFill>
                  <a:schemeClr val="tx1">
                    <a:alpha val="80000"/>
                  </a:schemeClr>
                </a:solidFill>
              </a:rPr>
              <a:t>Backend:</a:t>
            </a:r>
            <a:br>
              <a:rPr lang="hu-HU" sz="2000" b="1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hu-HU" sz="2000" b="1">
                <a:solidFill>
                  <a:schemeClr val="tx1">
                    <a:alpha val="80000"/>
                  </a:schemeClr>
                </a:solidFill>
              </a:rPr>
              <a:t>Karácsony Kornél</a:t>
            </a:r>
            <a:endParaRPr lang="hu-HU" sz="2000" b="1" dirty="0">
              <a:solidFill>
                <a:schemeClr val="tx1">
                  <a:alpha val="80000"/>
                </a:schemeClr>
              </a:solidFill>
            </a:endParaRPr>
          </a:p>
          <a:p>
            <a:endParaRPr lang="hu-HU" sz="2000">
              <a:solidFill>
                <a:srgbClr val="000000">
                  <a:alpha val="80000"/>
                </a:srgb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 descr="A képen szöveg, képernyőkép, narancs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0EAA5575-D9CA-DF16-232E-4B037389D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"/>
            <a:ext cx="12192000" cy="585986"/>
          </a:xfrm>
          <a:prstGeom prst="rect">
            <a:avLst/>
          </a:prstGeom>
        </p:spPr>
      </p:pic>
      <p:pic>
        <p:nvPicPr>
          <p:cNvPr id="7" name="Kép 6" descr="A képen képernyőkép, narancs, Grafik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C1457F6-9F39-4579-67B8-761F53963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9087"/>
            <a:ext cx="12192000" cy="92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04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rgbClr val="FF8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EC9F304-4A7E-D48D-0612-0609F6CA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hu-HU" u="sng">
                <a:solidFill>
                  <a:srgbClr val="FFFFFF"/>
                </a:solidFill>
                <a:ea typeface="+mj-lt"/>
                <a:cs typeface="+mj-lt"/>
              </a:rPr>
              <a:t>Tervezés:</a:t>
            </a:r>
            <a:br>
              <a:rPr lang="hu-HU" u="sng" dirty="0">
                <a:solidFill>
                  <a:srgbClr val="FFFFFF"/>
                </a:solidFill>
                <a:ea typeface="+mj-lt"/>
                <a:cs typeface="+mj-lt"/>
              </a:rPr>
            </a:br>
            <a:br>
              <a:rPr lang="hu-HU" u="sng" dirty="0">
                <a:solidFill>
                  <a:srgbClr val="FFFFFF"/>
                </a:solidFill>
              </a:rPr>
            </a:br>
            <a:r>
              <a:rPr lang="hu-HU" sz="2800">
                <a:solidFill>
                  <a:srgbClr val="FFFFFF"/>
                </a:solidFill>
              </a:rPr>
              <a:t>- Technológiai Stack</a:t>
            </a:r>
            <a:endParaRPr lang="hu-HU" sz="2800" dirty="0">
              <a:solidFill>
                <a:srgbClr val="FFFFFF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559CFD7-E761-80BC-DB38-A9BD7F711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837" y="710560"/>
            <a:ext cx="5536397" cy="53055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2200" b="1">
                <a:ea typeface="+mn-lt"/>
                <a:cs typeface="+mn-lt"/>
              </a:rPr>
              <a:t>Frontend:</a:t>
            </a:r>
            <a:endParaRPr lang="hu-HU" sz="2200" b="1"/>
          </a:p>
          <a:p>
            <a:r>
              <a:rPr lang="hu-HU" sz="2400" i="1">
                <a:ea typeface="+mn-lt"/>
                <a:cs typeface="+mn-lt"/>
              </a:rPr>
              <a:t>React</a:t>
            </a:r>
            <a:endParaRPr lang="hu-HU" sz="2200" i="1">
              <a:ea typeface="+mn-lt"/>
              <a:cs typeface="+mn-lt"/>
            </a:endParaRPr>
          </a:p>
          <a:p>
            <a:r>
              <a:rPr lang="hu-HU" sz="2400" i="1"/>
              <a:t>Javascript</a:t>
            </a:r>
            <a:endParaRPr lang="hu-HU" sz="2400" i="1" dirty="0"/>
          </a:p>
          <a:p>
            <a:pPr marL="0" indent="0">
              <a:buNone/>
            </a:pPr>
            <a:r>
              <a:rPr lang="hu-HU" sz="2200" b="1">
                <a:ea typeface="+mn-lt"/>
                <a:cs typeface="+mn-lt"/>
              </a:rPr>
              <a:t>Backend:</a:t>
            </a:r>
            <a:endParaRPr lang="hu-HU" sz="2200" b="1"/>
          </a:p>
          <a:p>
            <a:r>
              <a:rPr lang="hu-HU" sz="2200" i="1">
                <a:ea typeface="+mn-lt"/>
                <a:cs typeface="+mn-lt"/>
              </a:rPr>
              <a:t>Nodejs, Express</a:t>
            </a:r>
            <a:endParaRPr lang="hu-HU" sz="2200" i="1"/>
          </a:p>
          <a:p>
            <a:r>
              <a:rPr lang="hu-HU" sz="2200" i="1"/>
              <a:t>Typescript</a:t>
            </a:r>
            <a:endParaRPr lang="hu-HU" sz="2200" i="1" dirty="0"/>
          </a:p>
          <a:p>
            <a:pPr marL="0" indent="0">
              <a:buNone/>
            </a:pPr>
            <a:r>
              <a:rPr lang="hu-HU" sz="2200" b="1"/>
              <a:t>Adatbázis:</a:t>
            </a:r>
            <a:endParaRPr lang="hu-HU" sz="2200" i="1" dirty="0"/>
          </a:p>
          <a:p>
            <a:pPr marL="342900" indent="-342900"/>
            <a:r>
              <a:rPr lang="hu-HU" sz="2200" i="1"/>
              <a:t>MySQL, Docker</a:t>
            </a:r>
            <a:endParaRPr lang="hu-HU" sz="2200" i="1" dirty="0"/>
          </a:p>
          <a:p>
            <a:pPr marL="0" indent="0">
              <a:buNone/>
            </a:pPr>
            <a:r>
              <a:rPr lang="hu-HU" sz="2200" b="1"/>
              <a:t>Szerkesztő:</a:t>
            </a:r>
            <a:endParaRPr lang="hu-HU" sz="2200" b="1" dirty="0"/>
          </a:p>
          <a:p>
            <a:pPr marL="342900" indent="-342900"/>
            <a:r>
              <a:rPr lang="hu-HU" sz="2200" i="1"/>
              <a:t>Visual Studio Code</a:t>
            </a:r>
            <a:endParaRPr lang="hu-HU" sz="2200" i="1" dirty="0"/>
          </a:p>
          <a:p>
            <a:pPr marL="0" indent="0">
              <a:buNone/>
            </a:pPr>
            <a:r>
              <a:rPr lang="hu-HU" sz="2200" b="1"/>
              <a:t>Verziókezelő:</a:t>
            </a:r>
            <a:endParaRPr lang="hu-HU" sz="2200" b="1" dirty="0"/>
          </a:p>
          <a:p>
            <a:pPr marL="342900" indent="-342900"/>
            <a:r>
              <a:rPr lang="hu-HU" sz="2200" i="1"/>
              <a:t>Git</a:t>
            </a:r>
            <a:endParaRPr lang="hu-HU" sz="2200" b="1" dirty="0"/>
          </a:p>
          <a:p>
            <a:pPr marL="0" indent="0">
              <a:buNone/>
            </a:pPr>
            <a:endParaRPr lang="hu-HU" sz="2200" i="1" dirty="0"/>
          </a:p>
          <a:p>
            <a:endParaRPr lang="hu-HU" sz="2200"/>
          </a:p>
        </p:txBody>
      </p:sp>
      <p:pic>
        <p:nvPicPr>
          <p:cNvPr id="5" name="Kép 4" descr="A képen szöveg, képernyőkép, narancs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DDB13386-C28D-8916-97CB-C41B28F98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"/>
            <a:ext cx="12192000" cy="585986"/>
          </a:xfrm>
          <a:prstGeom prst="rect">
            <a:avLst/>
          </a:prstGeom>
        </p:spPr>
      </p:pic>
      <p:pic>
        <p:nvPicPr>
          <p:cNvPr id="7" name="Kép 6" descr="A képen képernyőkép, narancs, Grafik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1D5EA621-6430-B95C-039C-AB00519DD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9087"/>
            <a:ext cx="12192000" cy="920316"/>
          </a:xfrm>
          <a:prstGeom prst="rect">
            <a:avLst/>
          </a:prstGeom>
        </p:spPr>
      </p:pic>
      <p:sp>
        <p:nvSpPr>
          <p:cNvPr id="9" name="Ferde trapéz 8">
            <a:extLst>
              <a:ext uri="{FF2B5EF4-FFF2-40B4-BE49-F238E27FC236}">
                <a16:creationId xmlns:a16="http://schemas.microsoft.com/office/drawing/2014/main" id="{12EBC57D-7DF4-29F1-4334-E1A407134018}"/>
              </a:ext>
            </a:extLst>
          </p:cNvPr>
          <p:cNvSpPr/>
          <p:nvPr/>
        </p:nvSpPr>
        <p:spPr>
          <a:xfrm rot="15360000">
            <a:off x="9040811" y="269634"/>
            <a:ext cx="1383421" cy="1696542"/>
          </a:xfrm>
          <a:prstGeom prst="diagStripe">
            <a:avLst/>
          </a:prstGeom>
          <a:solidFill>
            <a:srgbClr val="2A9D8F"/>
          </a:solidFill>
          <a:ln>
            <a:solidFill>
              <a:srgbClr val="FFF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465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797E9-FDC8-7B82-E905-0BB333507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B82517-ACEA-994D-1DDB-D1B7140B8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3010B3-818E-76B2-6630-8C1045622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rgbClr val="FF8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E62D2DE-42E4-3D97-23FD-76CBD7C8D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hu-HU" u="sng">
                <a:solidFill>
                  <a:srgbClr val="FFFFFF"/>
                </a:solidFill>
                <a:ea typeface="+mj-lt"/>
                <a:cs typeface="+mj-lt"/>
              </a:rPr>
              <a:t>Tervezés:</a:t>
            </a:r>
            <a:br>
              <a:rPr lang="hu-HU" u="sng" dirty="0">
                <a:solidFill>
                  <a:srgbClr val="FFFFFF"/>
                </a:solidFill>
                <a:ea typeface="+mj-lt"/>
                <a:cs typeface="+mj-lt"/>
              </a:rPr>
            </a:br>
            <a:br>
              <a:rPr lang="hu-HU" u="sng" dirty="0">
                <a:solidFill>
                  <a:srgbClr val="FFFFFF"/>
                </a:solidFill>
              </a:rPr>
            </a:br>
            <a:r>
              <a:rPr lang="hu-HU" sz="2800">
                <a:solidFill>
                  <a:srgbClr val="FFFFFF"/>
                </a:solidFill>
              </a:rPr>
              <a:t>- Irodalomkutatás</a:t>
            </a:r>
            <a:endParaRPr lang="hu-HU" sz="2800" dirty="0">
              <a:solidFill>
                <a:srgbClr val="FFFFFF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352C8BC-CBF7-5767-0C06-98BE94B01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345C3BA-4CCE-C410-C68D-C3ED6A3FF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9295" y="1610271"/>
            <a:ext cx="5536397" cy="37080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2200" b="1">
                <a:ea typeface="+mn-lt"/>
                <a:cs typeface="+mn-lt"/>
              </a:rPr>
              <a:t>Frontend, Backend:</a:t>
            </a:r>
            <a:endParaRPr lang="hu-HU" sz="2200" b="1"/>
          </a:p>
          <a:p>
            <a:r>
              <a:rPr lang="hu-HU" sz="2400" i="1"/>
              <a:t>Dokumentációk</a:t>
            </a:r>
            <a:endParaRPr lang="hu-HU" sz="2400" i="1" dirty="0"/>
          </a:p>
          <a:p>
            <a:r>
              <a:rPr lang="hu-HU" sz="2400" i="1">
                <a:ea typeface="+mn-lt"/>
                <a:cs typeface="+mn-lt"/>
              </a:rPr>
              <a:t>Tanórákon elsajátított tudás</a:t>
            </a:r>
            <a:endParaRPr lang="hu-HU" sz="2400" i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hu-HU" sz="2200" b="1">
                <a:ea typeface="+mn-lt"/>
                <a:cs typeface="+mn-lt"/>
              </a:rPr>
              <a:t>Versenytársak:</a:t>
            </a:r>
            <a:endParaRPr lang="hu-HU" sz="2200" b="1"/>
          </a:p>
          <a:p>
            <a:r>
              <a:rPr lang="hu-HU" sz="2200" i="1">
                <a:ea typeface="+mn-lt"/>
                <a:cs typeface="+mn-lt"/>
              </a:rPr>
              <a:t>GsFanatic</a:t>
            </a:r>
            <a:endParaRPr lang="hu-HU" sz="2200" i="1"/>
          </a:p>
          <a:p>
            <a:r>
              <a:rPr lang="hu-HU" sz="2200" i="1"/>
              <a:t>Közösségi média csoportok</a:t>
            </a:r>
            <a:endParaRPr lang="hu-HU" sz="2200" i="1" dirty="0"/>
          </a:p>
          <a:p>
            <a:pPr marL="0" indent="0">
              <a:buNone/>
            </a:pPr>
            <a:r>
              <a:rPr lang="hu-HU" sz="2200" b="1"/>
              <a:t>Társadalomkutatás:</a:t>
            </a:r>
            <a:endParaRPr lang="hu-HU" sz="2200" i="1" dirty="0"/>
          </a:p>
          <a:p>
            <a:pPr marL="342900" indent="-342900"/>
            <a:r>
              <a:rPr lang="hu-HU" sz="2200" i="1"/>
              <a:t>Zenész ismerősök véleménye</a:t>
            </a:r>
            <a:endParaRPr lang="hu-HU" sz="2200" i="1" dirty="0"/>
          </a:p>
          <a:p>
            <a:pPr marL="0" indent="0">
              <a:buNone/>
            </a:pPr>
            <a:endParaRPr lang="hu-HU" sz="2200" b="1" dirty="0"/>
          </a:p>
          <a:p>
            <a:pPr marL="0" indent="0">
              <a:buNone/>
            </a:pPr>
            <a:endParaRPr lang="hu-HU" sz="2200" i="1" dirty="0"/>
          </a:p>
          <a:p>
            <a:endParaRPr lang="hu-HU" sz="2200"/>
          </a:p>
        </p:txBody>
      </p:sp>
      <p:pic>
        <p:nvPicPr>
          <p:cNvPr id="5" name="Kép 4" descr="A képen szöveg, képernyőkép, narancs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893E5BE3-D1FD-4484-5BCF-082DEB120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"/>
            <a:ext cx="12192000" cy="585986"/>
          </a:xfrm>
          <a:prstGeom prst="rect">
            <a:avLst/>
          </a:prstGeom>
        </p:spPr>
      </p:pic>
      <p:pic>
        <p:nvPicPr>
          <p:cNvPr id="7" name="Kép 6" descr="A képen képernyőkép, narancs, Grafik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2E335869-B3E8-A3AC-3443-BDE8F480C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9087"/>
            <a:ext cx="12192000" cy="920316"/>
          </a:xfrm>
          <a:prstGeom prst="rect">
            <a:avLst/>
          </a:prstGeom>
        </p:spPr>
      </p:pic>
      <p:sp>
        <p:nvSpPr>
          <p:cNvPr id="9" name="Ferde trapéz 8">
            <a:extLst>
              <a:ext uri="{FF2B5EF4-FFF2-40B4-BE49-F238E27FC236}">
                <a16:creationId xmlns:a16="http://schemas.microsoft.com/office/drawing/2014/main" id="{0899FAD2-8D53-B77A-8171-E1A31F88FCF2}"/>
              </a:ext>
            </a:extLst>
          </p:cNvPr>
          <p:cNvSpPr/>
          <p:nvPr/>
        </p:nvSpPr>
        <p:spPr>
          <a:xfrm rot="15360000">
            <a:off x="9040811" y="269634"/>
            <a:ext cx="1383421" cy="1696542"/>
          </a:xfrm>
          <a:prstGeom prst="diagStripe">
            <a:avLst/>
          </a:prstGeom>
          <a:solidFill>
            <a:srgbClr val="2A9D8F"/>
          </a:solidFill>
          <a:ln>
            <a:solidFill>
              <a:srgbClr val="FFF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99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8A214-3FE7-5F6C-443B-27FCF7D4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29955D-83AC-3A18-9960-54FABF017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hu-HU" u="sng">
                <a:solidFill>
                  <a:srgbClr val="FFFFFF"/>
                </a:solidFill>
                <a:ea typeface="+mj-lt"/>
                <a:cs typeface="+mj-lt"/>
              </a:rPr>
              <a:t>Fő funkciók</a:t>
            </a:r>
            <a:endParaRPr lang="hu-HU" u="sng">
              <a:solidFill>
                <a:srgbClr val="FFFFFF"/>
              </a:solidFill>
            </a:endParaRPr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49C957D4-2844-62B0-BCCF-687E6415933B}"/>
              </a:ext>
            </a:extLst>
          </p:cNvPr>
          <p:cNvSpPr/>
          <p:nvPr/>
        </p:nvSpPr>
        <p:spPr>
          <a:xfrm>
            <a:off x="-3172933" y="1433892"/>
            <a:ext cx="6959530" cy="4313749"/>
          </a:xfrm>
          <a:prstGeom prst="ellipse">
            <a:avLst/>
          </a:prstGeom>
          <a:solidFill>
            <a:srgbClr val="FF892C"/>
          </a:solidFill>
          <a:ln>
            <a:solidFill>
              <a:srgbClr val="FF89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C88840D4-9525-F008-052D-0ECA55A41834}"/>
              </a:ext>
            </a:extLst>
          </p:cNvPr>
          <p:cNvSpPr txBox="1"/>
          <p:nvPr/>
        </p:nvSpPr>
        <p:spPr>
          <a:xfrm>
            <a:off x="110571" y="3110156"/>
            <a:ext cx="45500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600" b="1" u="sng">
                <a:solidFill>
                  <a:schemeClr val="bg1"/>
                </a:solidFill>
                <a:latin typeface="Aptos"/>
              </a:rPr>
              <a:t>Főbb funkciók</a:t>
            </a:r>
            <a:endParaRPr lang="hu-HU"/>
          </a:p>
        </p:txBody>
      </p:sp>
      <p:sp>
        <p:nvSpPr>
          <p:cNvPr id="47" name="Tartalom helye 46">
            <a:extLst>
              <a:ext uri="{FF2B5EF4-FFF2-40B4-BE49-F238E27FC236}">
                <a16:creationId xmlns:a16="http://schemas.microsoft.com/office/drawing/2014/main" id="{D9F4D413-6BD0-3ACF-E701-6458D35B4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5094" y="1622917"/>
            <a:ext cx="6804362" cy="36193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20000"/>
              </a:lnSpc>
            </a:pPr>
            <a:r>
              <a:rPr lang="hu-HU" i="1"/>
              <a:t>Felhasználói profil létrehozása</a:t>
            </a:r>
          </a:p>
          <a:p>
            <a:pPr marL="457200" indent="-457200">
              <a:lnSpc>
                <a:spcPct val="120000"/>
              </a:lnSpc>
            </a:pPr>
            <a:r>
              <a:rPr lang="hu-HU" i="1"/>
              <a:t>Zenészek keresése szűrők alapján</a:t>
            </a:r>
          </a:p>
          <a:p>
            <a:pPr marL="457200" indent="-457200">
              <a:lnSpc>
                <a:spcPct val="120000"/>
              </a:lnSpc>
            </a:pPr>
            <a:r>
              <a:rPr lang="hu-HU" i="1"/>
              <a:t>Zenekar alapítása és kezelése</a:t>
            </a:r>
          </a:p>
          <a:p>
            <a:pPr marL="457200" indent="-457200">
              <a:lnSpc>
                <a:spcPct val="120000"/>
              </a:lnSpc>
            </a:pPr>
            <a:r>
              <a:rPr lang="hu-HU" i="1"/>
              <a:t>Események hirdetése</a:t>
            </a:r>
            <a:endParaRPr lang="hu-HU" i="1" dirty="0"/>
          </a:p>
          <a:p>
            <a:pPr marL="457200" indent="-457200">
              <a:lnSpc>
                <a:spcPct val="120000"/>
              </a:lnSpc>
            </a:pPr>
            <a:r>
              <a:rPr lang="hu-HU" i="1"/>
              <a:t>Közvetlen kommunikáció</a:t>
            </a:r>
            <a:endParaRPr lang="hu-HU" i="1" dirty="0"/>
          </a:p>
        </p:txBody>
      </p:sp>
      <p:pic>
        <p:nvPicPr>
          <p:cNvPr id="48" name="Kép 47" descr="A képen szöveg, képernyőkép, narancs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D293215D-A145-683E-F950-05939C18C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"/>
            <a:ext cx="12192000" cy="585986"/>
          </a:xfrm>
          <a:prstGeom prst="rect">
            <a:avLst/>
          </a:prstGeom>
        </p:spPr>
      </p:pic>
      <p:pic>
        <p:nvPicPr>
          <p:cNvPr id="49" name="Kép 48" descr="A képen képernyőkép, narancs, Grafik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C986C202-235B-F35F-92D8-AFC8852E7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9087"/>
            <a:ext cx="12192000" cy="92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116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6193D-4E26-CADD-AD30-B2177790E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4D56EC-D682-417C-1404-C77CEF605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hu-HU" u="sng">
                <a:solidFill>
                  <a:srgbClr val="FFFFFF"/>
                </a:solidFill>
                <a:ea typeface="+mj-lt"/>
                <a:cs typeface="+mj-lt"/>
              </a:rPr>
              <a:t>Fő funkciók</a:t>
            </a:r>
            <a:endParaRPr lang="hu-HU" u="sng">
              <a:solidFill>
                <a:srgbClr val="FFFFFF"/>
              </a:solidFill>
            </a:endParaRPr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6F6553B2-DF35-E192-1AC9-8250D7298699}"/>
              </a:ext>
            </a:extLst>
          </p:cNvPr>
          <p:cNvSpPr/>
          <p:nvPr/>
        </p:nvSpPr>
        <p:spPr>
          <a:xfrm>
            <a:off x="-3172933" y="1433892"/>
            <a:ext cx="6959530" cy="4313749"/>
          </a:xfrm>
          <a:prstGeom prst="ellipse">
            <a:avLst/>
          </a:prstGeom>
          <a:solidFill>
            <a:srgbClr val="FF892C"/>
          </a:solidFill>
          <a:ln>
            <a:solidFill>
              <a:srgbClr val="FF89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2231701F-F97B-3DDA-5CD9-EB5615B19558}"/>
              </a:ext>
            </a:extLst>
          </p:cNvPr>
          <p:cNvSpPr txBox="1"/>
          <p:nvPr/>
        </p:nvSpPr>
        <p:spPr>
          <a:xfrm>
            <a:off x="40591" y="2528220"/>
            <a:ext cx="4550042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4400" u="sng">
                <a:solidFill>
                  <a:schemeClr val="bg1"/>
                </a:solidFill>
                <a:latin typeface="Aptos Display"/>
              </a:rPr>
              <a:t>Frontend és Backend </a:t>
            </a:r>
            <a:r>
              <a:rPr lang="hu-HU" sz="4400" u="sng" dirty="0">
                <a:solidFill>
                  <a:schemeClr val="bg1"/>
                </a:solidFill>
                <a:latin typeface="Aptos Display"/>
              </a:rPr>
              <a:t>megvalósítás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47" name="Tartalom helye 46">
            <a:extLst>
              <a:ext uri="{FF2B5EF4-FFF2-40B4-BE49-F238E27FC236}">
                <a16:creationId xmlns:a16="http://schemas.microsoft.com/office/drawing/2014/main" id="{DD51B3C5-0978-AEC6-670D-E4A15ECA1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23" y="1820987"/>
            <a:ext cx="3216170" cy="457900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hu-HU" b="1"/>
              <a:t>Főbb megoldások:</a:t>
            </a:r>
            <a:endParaRPr lang="hu-HU"/>
          </a:p>
          <a:p>
            <a:pPr>
              <a:lnSpc>
                <a:spcPct val="120000"/>
              </a:lnSpc>
            </a:pPr>
            <a:r>
              <a:rPr lang="hu-HU" i="1"/>
              <a:t>komponens alapú felépítés </a:t>
            </a:r>
            <a:endParaRPr lang="hu-HU"/>
          </a:p>
          <a:p>
            <a:pPr>
              <a:lnSpc>
                <a:spcPct val="120000"/>
              </a:lnSpc>
            </a:pPr>
            <a:r>
              <a:rPr lang="hu-HU" i="1"/>
              <a:t>routing az oldalak között </a:t>
            </a:r>
            <a:endParaRPr lang="hu-HU"/>
          </a:p>
          <a:p>
            <a:pPr>
              <a:lnSpc>
                <a:spcPct val="120000"/>
              </a:lnSpc>
            </a:pPr>
            <a:r>
              <a:rPr lang="hu-HU" i="1"/>
              <a:t>állapotkezelés </a:t>
            </a:r>
            <a:endParaRPr lang="hu-HU"/>
          </a:p>
          <a:p>
            <a:pPr marL="0" indent="0">
              <a:lnSpc>
                <a:spcPct val="120000"/>
              </a:lnSpc>
              <a:buNone/>
            </a:pPr>
            <a:r>
              <a:rPr lang="hu-HU" b="1"/>
              <a:t>Szempontok:</a:t>
            </a:r>
            <a:endParaRPr lang="hu-HU"/>
          </a:p>
          <a:p>
            <a:pPr>
              <a:lnSpc>
                <a:spcPct val="120000"/>
              </a:lnSpc>
            </a:pPr>
            <a:r>
              <a:rPr lang="hu-HU" i="1"/>
              <a:t>egyszerű használhatóság </a:t>
            </a:r>
            <a:endParaRPr lang="hu-HU"/>
          </a:p>
          <a:p>
            <a:pPr>
              <a:lnSpc>
                <a:spcPct val="120000"/>
              </a:lnSpc>
            </a:pPr>
            <a:r>
              <a:rPr lang="hu-HU" i="1"/>
              <a:t>átlátható felület </a:t>
            </a:r>
            <a:endParaRPr lang="hu-HU"/>
          </a:p>
          <a:p>
            <a:pPr>
              <a:lnSpc>
                <a:spcPct val="120000"/>
              </a:lnSpc>
            </a:pPr>
            <a:r>
              <a:rPr lang="hu-HU" i="1"/>
              <a:t>reszponzív design</a:t>
            </a:r>
            <a:endParaRPr lang="hu-HU"/>
          </a:p>
        </p:txBody>
      </p:sp>
      <p:pic>
        <p:nvPicPr>
          <p:cNvPr id="48" name="Kép 47" descr="A képen szöveg, képernyőkép, narancs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B59EAF65-6892-FE41-72D5-BB5B3FD18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"/>
            <a:ext cx="12192000" cy="585986"/>
          </a:xfrm>
          <a:prstGeom prst="rect">
            <a:avLst/>
          </a:prstGeom>
        </p:spPr>
      </p:pic>
      <p:pic>
        <p:nvPicPr>
          <p:cNvPr id="49" name="Kép 48" descr="A képen képernyőkép, narancs, Grafik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C3BD0033-342F-AE0A-C4BD-9F986F102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9087"/>
            <a:ext cx="12192000" cy="920316"/>
          </a:xfrm>
          <a:prstGeom prst="rect">
            <a:avLst/>
          </a:prstGeom>
        </p:spPr>
      </p:pic>
      <p:sp>
        <p:nvSpPr>
          <p:cNvPr id="4" name="Tartalom helye 46">
            <a:extLst>
              <a:ext uri="{FF2B5EF4-FFF2-40B4-BE49-F238E27FC236}">
                <a16:creationId xmlns:a16="http://schemas.microsoft.com/office/drawing/2014/main" id="{041E1A33-08D2-1F1D-8F54-8461EB9C9ADC}"/>
              </a:ext>
            </a:extLst>
          </p:cNvPr>
          <p:cNvSpPr txBox="1">
            <a:spLocks/>
          </p:cNvSpPr>
          <p:nvPr/>
        </p:nvSpPr>
        <p:spPr>
          <a:xfrm>
            <a:off x="8265476" y="1819650"/>
            <a:ext cx="3216170" cy="41111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hu-HU" sz="4000" b="1"/>
              <a:t>Fő funkciók:</a:t>
            </a:r>
            <a:endParaRPr lang="hu-HU" sz="4000"/>
          </a:p>
          <a:p>
            <a:pPr>
              <a:lnSpc>
                <a:spcPct val="100000"/>
              </a:lnSpc>
              <a:buFont typeface="Arial"/>
            </a:pPr>
            <a:r>
              <a:rPr lang="hu-HU" sz="4000" i="1"/>
              <a:t>REST API kialakítása </a:t>
            </a:r>
            <a:endParaRPr lang="hu-HU" sz="4000"/>
          </a:p>
          <a:p>
            <a:pPr>
              <a:lnSpc>
                <a:spcPct val="100000"/>
              </a:lnSpc>
              <a:buFont typeface="Arial"/>
            </a:pPr>
            <a:r>
              <a:rPr lang="hu-HU" sz="4000" i="1"/>
              <a:t>felhasználókezelés (regisztráció, login) </a:t>
            </a:r>
            <a:endParaRPr lang="hu-HU" sz="4000"/>
          </a:p>
          <a:p>
            <a:pPr>
              <a:lnSpc>
                <a:spcPct val="100000"/>
              </a:lnSpc>
              <a:buFont typeface="Arial"/>
            </a:pPr>
            <a:r>
              <a:rPr lang="hu-HU" sz="4000" i="1"/>
              <a:t>Adatok adatbázisban való tárolása </a:t>
            </a:r>
            <a:endParaRPr lang="hu-HU" sz="4000"/>
          </a:p>
          <a:p>
            <a:pPr marL="0" indent="0">
              <a:lnSpc>
                <a:spcPct val="100000"/>
              </a:lnSpc>
              <a:buNone/>
            </a:pPr>
            <a:r>
              <a:rPr lang="hu-HU" sz="4000" b="1"/>
              <a:t>Adatkezelés:</a:t>
            </a:r>
            <a:endParaRPr lang="hu-HU" sz="4000"/>
          </a:p>
          <a:p>
            <a:pPr>
              <a:lnSpc>
                <a:spcPct val="100000"/>
              </a:lnSpc>
              <a:buFont typeface="Arial"/>
            </a:pPr>
            <a:r>
              <a:rPr lang="hu-HU" sz="4000" i="1"/>
              <a:t>adatbázis műveletek </a:t>
            </a:r>
            <a:endParaRPr lang="hu-HU" sz="4000"/>
          </a:p>
          <a:p>
            <a:pPr>
              <a:lnSpc>
                <a:spcPct val="100000"/>
              </a:lnSpc>
              <a:buFont typeface="Arial"/>
            </a:pPr>
            <a:r>
              <a:rPr lang="hu-HU" sz="4000" i="1"/>
              <a:t>validáció és hibakezelés</a:t>
            </a:r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8A69C985-A0DC-776F-A934-913627149AA9}"/>
              </a:ext>
            </a:extLst>
          </p:cNvPr>
          <p:cNvSpPr txBox="1"/>
          <p:nvPr/>
        </p:nvSpPr>
        <p:spPr>
          <a:xfrm>
            <a:off x="4153867" y="1250474"/>
            <a:ext cx="27197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sz="2400" b="1" u="sng"/>
              <a:t>Frontend: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BB8CE16C-F3DD-6C7E-651B-5E38F98BEAA8}"/>
              </a:ext>
            </a:extLst>
          </p:cNvPr>
          <p:cNvSpPr txBox="1"/>
          <p:nvPr/>
        </p:nvSpPr>
        <p:spPr>
          <a:xfrm>
            <a:off x="8264656" y="1250474"/>
            <a:ext cx="27197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sz="2400" b="1" u="sng"/>
              <a:t>Backend:</a:t>
            </a:r>
          </a:p>
        </p:txBody>
      </p:sp>
    </p:spTree>
    <p:extLst>
      <p:ext uri="{BB962C8B-B14F-4D97-AF65-F5344CB8AC3E}">
        <p14:creationId xmlns:p14="http://schemas.microsoft.com/office/powerpoint/2010/main" val="3173520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BFC64-DCE2-B399-6ABD-BA2E48DA4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78B712-35E2-8444-C381-53B245D4E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206C4C-5E61-6641-2948-FACBB6A9E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rgbClr val="FF89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45C8A59-C086-1CB9-5B2C-2A9E2A72B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hu-HU" u="sng">
                <a:solidFill>
                  <a:srgbClr val="FFFFFF"/>
                </a:solidFill>
                <a:ea typeface="+mj-lt"/>
                <a:cs typeface="+mj-lt"/>
              </a:rPr>
              <a:t>Demo</a:t>
            </a:r>
            <a:endParaRPr lang="hu-HU" u="sng">
              <a:ea typeface="+mj-lt"/>
              <a:cs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0CA500B-3190-8B11-4E0F-59E51954C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0D88D35-F9D4-A85B-2063-0C966693C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837" y="710560"/>
            <a:ext cx="5536397" cy="53055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hu-HU" sz="2200" b="1" dirty="0"/>
          </a:p>
          <a:p>
            <a:pPr marL="0" indent="0">
              <a:buNone/>
            </a:pPr>
            <a:endParaRPr lang="hu-HU" sz="2200" i="1" dirty="0"/>
          </a:p>
          <a:p>
            <a:endParaRPr lang="hu-HU" sz="2200"/>
          </a:p>
        </p:txBody>
      </p:sp>
      <p:pic>
        <p:nvPicPr>
          <p:cNvPr id="5" name="Kép 4" descr="A képen szöveg, képernyőkép, narancs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2292D23B-1C82-EEB3-DC32-E303CF5B2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"/>
            <a:ext cx="12192000" cy="585986"/>
          </a:xfrm>
          <a:prstGeom prst="rect">
            <a:avLst/>
          </a:prstGeom>
        </p:spPr>
      </p:pic>
      <p:pic>
        <p:nvPicPr>
          <p:cNvPr id="7" name="Kép 6" descr="A képen képernyőkép, narancs, Grafik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0D04FC38-9CEF-434B-DC6F-30A589F3F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9087"/>
            <a:ext cx="12192000" cy="920316"/>
          </a:xfrm>
          <a:prstGeom prst="rect">
            <a:avLst/>
          </a:prstGeom>
        </p:spPr>
      </p:pic>
      <p:sp>
        <p:nvSpPr>
          <p:cNvPr id="9" name="Ferde trapéz 8">
            <a:extLst>
              <a:ext uri="{FF2B5EF4-FFF2-40B4-BE49-F238E27FC236}">
                <a16:creationId xmlns:a16="http://schemas.microsoft.com/office/drawing/2014/main" id="{E1B3E1A7-C917-8872-3069-E196F9C929E9}"/>
              </a:ext>
            </a:extLst>
          </p:cNvPr>
          <p:cNvSpPr/>
          <p:nvPr/>
        </p:nvSpPr>
        <p:spPr>
          <a:xfrm rot="15360000">
            <a:off x="9040811" y="269634"/>
            <a:ext cx="1383421" cy="1696542"/>
          </a:xfrm>
          <a:prstGeom prst="diagStripe">
            <a:avLst/>
          </a:prstGeom>
          <a:solidFill>
            <a:srgbClr val="2A9D8F"/>
          </a:solidFill>
          <a:ln>
            <a:solidFill>
              <a:srgbClr val="FFF3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494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264888C-C7B0-3AE4-BBB4-4856FBF9F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hu-HU" sz="6800" u="sng">
                <a:solidFill>
                  <a:srgbClr val="FFFFFF"/>
                </a:solidFill>
                <a:ea typeface="+mj-lt"/>
                <a:cs typeface="+mj-lt"/>
              </a:rPr>
              <a:t>Összegzés</a:t>
            </a:r>
            <a:endParaRPr lang="hu-HU" sz="6800" u="sng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2AF93FF-643C-9EFB-6616-490DFDDFB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hu-HU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Eredmények:</a:t>
            </a:r>
            <a:endParaRPr lang="hu-HU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működő webalkalmazás </a:t>
            </a:r>
            <a:endParaRPr lang="hu-HU" sz="2000" i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alap funkciók megvalósítása </a:t>
            </a:r>
            <a:endParaRPr lang="hu-HU" sz="2000" i="1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hu-HU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Tanulságok:</a:t>
            </a:r>
            <a:endParaRPr lang="hu-HU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frontend és backend együttműködés </a:t>
            </a:r>
            <a:endParaRPr lang="hu-HU" sz="2000" i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tervezés fontossága </a:t>
            </a:r>
            <a:endParaRPr lang="hu-HU" sz="2000" i="1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hu-HU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Jövőbeli fejlesztések:</a:t>
            </a:r>
            <a:endParaRPr lang="hu-HU" sz="2000" b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mobilalkalmazás </a:t>
            </a:r>
            <a:endParaRPr lang="hu-HU" sz="2000" i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fejlettebb keresés </a:t>
            </a:r>
            <a:endParaRPr lang="hu-HU" sz="2000" i="1">
              <a:solidFill>
                <a:schemeClr val="tx1">
                  <a:alpha val="80000"/>
                </a:schemeClr>
              </a:solidFill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Ajánlórendszer</a:t>
            </a:r>
            <a:endParaRPr lang="hu-HU" sz="200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r>
              <a:rPr lang="hu-HU" sz="2000" i="1">
                <a:solidFill>
                  <a:schemeClr val="tx1">
                    <a:alpha val="80000"/>
                  </a:schemeClr>
                </a:solidFill>
              </a:rPr>
              <a:t>Külső platformokkal való összekötés</a:t>
            </a:r>
            <a:endParaRPr lang="hu-HU" sz="2000" i="1" dirty="0">
              <a:solidFill>
                <a:schemeClr val="tx1">
                  <a:alpha val="80000"/>
                </a:schemeClr>
              </a:solidFill>
            </a:endParaRPr>
          </a:p>
          <a:p>
            <a:endParaRPr lang="hu-HU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 descr="A képen szöveg, képernyőkép, narancs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B3591BE3-D81C-995A-77B9-371FFDDF0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"/>
            <a:ext cx="12192000" cy="585986"/>
          </a:xfrm>
          <a:prstGeom prst="rect">
            <a:avLst/>
          </a:prstGeom>
        </p:spPr>
      </p:pic>
      <p:pic>
        <p:nvPicPr>
          <p:cNvPr id="7" name="Kép 6" descr="A képen képernyőkép, narancs, Grafik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BF3263D-FCC7-EB9C-1BFF-E20E43C0E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9087"/>
            <a:ext cx="12192000" cy="92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60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022D1-7231-AD1D-A62E-748CA5F4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zis 5">
            <a:extLst>
              <a:ext uri="{FF2B5EF4-FFF2-40B4-BE49-F238E27FC236}">
                <a16:creationId xmlns:a16="http://schemas.microsoft.com/office/drawing/2014/main" id="{8FB94E1A-D840-612F-4B29-9511DE612043}"/>
              </a:ext>
            </a:extLst>
          </p:cNvPr>
          <p:cNvSpPr/>
          <p:nvPr/>
        </p:nvSpPr>
        <p:spPr>
          <a:xfrm>
            <a:off x="1642109" y="723900"/>
            <a:ext cx="8905875" cy="5115120"/>
          </a:xfrm>
          <a:prstGeom prst="ellipse">
            <a:avLst/>
          </a:prstGeom>
          <a:solidFill>
            <a:srgbClr val="FF892C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ED5BE68-AA9B-2B5E-4DB4-AB00FFC3B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3083"/>
            <a:ext cx="9144000" cy="2387600"/>
          </a:xfrm>
        </p:spPr>
        <p:txBody>
          <a:bodyPr/>
          <a:lstStyle/>
          <a:p>
            <a:r>
              <a:rPr lang="hu-HU">
                <a:ea typeface="+mj-lt"/>
                <a:cs typeface="+mj-lt"/>
              </a:rPr>
              <a:t>Köszönjük a figyelmet!</a:t>
            </a:r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BD0FE27-CAC8-BA02-545F-2A06CA577ECF}"/>
              </a:ext>
            </a:extLst>
          </p:cNvPr>
          <p:cNvSpPr txBox="1"/>
          <p:nvPr/>
        </p:nvSpPr>
        <p:spPr>
          <a:xfrm>
            <a:off x="2522502" y="3381660"/>
            <a:ext cx="397701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1400" b="1"/>
              <a:t>Készítette:</a:t>
            </a:r>
            <a:br>
              <a:rPr lang="hu-HU" sz="1400" dirty="0"/>
            </a:br>
            <a:r>
              <a:rPr lang="hu-HU" sz="1400"/>
              <a:t>Klencsák Attila</a:t>
            </a:r>
            <a:br>
              <a:rPr lang="hu-HU" sz="1400" dirty="0"/>
            </a:br>
            <a:r>
              <a:rPr lang="hu-HU" sz="1400"/>
              <a:t>Karácsony Kornél István</a:t>
            </a:r>
            <a:endParaRPr lang="hu-HU" sz="1400" dirty="0"/>
          </a:p>
        </p:txBody>
      </p:sp>
      <p:pic>
        <p:nvPicPr>
          <p:cNvPr id="7" name="Kép 6" descr="A képen szöveg, képernyőkép, narancs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46F7BB3E-53AA-3E3F-35DF-C0CA59F10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2"/>
            <a:ext cx="12192000" cy="585986"/>
          </a:xfrm>
          <a:prstGeom prst="rect">
            <a:avLst/>
          </a:prstGeom>
        </p:spPr>
      </p:pic>
      <p:pic>
        <p:nvPicPr>
          <p:cNvPr id="9" name="Kép 8" descr="A képen képernyőkép, narancs, Grafika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96D173C3-CF15-7E5A-7119-2C3664EC9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9087"/>
            <a:ext cx="12192000" cy="920316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C7E5079D-8B71-1829-6A4C-C9931D01F762}"/>
              </a:ext>
            </a:extLst>
          </p:cNvPr>
          <p:cNvSpPr txBox="1"/>
          <p:nvPr/>
        </p:nvSpPr>
        <p:spPr>
          <a:xfrm>
            <a:off x="3668022" y="4471744"/>
            <a:ext cx="46990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/>
              <a:t>Bolyai János Műszaki Technikum és Kollégium</a:t>
            </a:r>
          </a:p>
        </p:txBody>
      </p:sp>
      <p:pic>
        <p:nvPicPr>
          <p:cNvPr id="8" name="Kép 7" descr="A képen szöveg, embléma, szimbólum, Védjegy látható&#10;&#10;Lehet, hogy az AI által létrehozott tartalom helytelen.">
            <a:extLst>
              <a:ext uri="{FF2B5EF4-FFF2-40B4-BE49-F238E27FC236}">
                <a16:creationId xmlns:a16="http://schemas.microsoft.com/office/drawing/2014/main" id="{59708D6E-7234-C97D-6C47-57A6E2C8C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745" y="4924250"/>
            <a:ext cx="831403" cy="842211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55BA8B67-A622-3F65-DBCB-4C69D1A70377}"/>
              </a:ext>
            </a:extLst>
          </p:cNvPr>
          <p:cNvSpPr txBox="1"/>
          <p:nvPr/>
        </p:nvSpPr>
        <p:spPr>
          <a:xfrm>
            <a:off x="6013108" y="3489208"/>
            <a:ext cx="354386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1400" b="1"/>
              <a:t>Konzulens:</a:t>
            </a:r>
            <a:endParaRPr lang="hu-HU" b="1"/>
          </a:p>
          <a:p>
            <a:pPr algn="ctr"/>
            <a:r>
              <a:rPr lang="hu-HU" sz="1400"/>
              <a:t> Gombos Szabolcs</a:t>
            </a:r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D26700E6-4864-0DDC-81A5-42F97D1E9AF5}"/>
              </a:ext>
            </a:extLst>
          </p:cNvPr>
          <p:cNvSpPr txBox="1">
            <a:spLocks/>
          </p:cNvSpPr>
          <p:nvPr/>
        </p:nvSpPr>
        <p:spPr>
          <a:xfrm>
            <a:off x="1676400" y="-31430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>
                <a:ea typeface="+mj-lt"/>
                <a:cs typeface="+mj-lt"/>
              </a:rPr>
              <a:t>BANDER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1749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10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1" baseType="lpstr">
      <vt:lpstr>Office-téma</vt:lpstr>
      <vt:lpstr>BANDER</vt:lpstr>
      <vt:lpstr>A probléma</vt:lpstr>
      <vt:lpstr>Munkamegosztás</vt:lpstr>
      <vt:lpstr>Tervezés:  - Technológiai Stack</vt:lpstr>
      <vt:lpstr>Tervezés:  - Irodalomkutatás</vt:lpstr>
      <vt:lpstr>Fő funkciók</vt:lpstr>
      <vt:lpstr>Fő funkciók</vt:lpstr>
      <vt:lpstr>Demo</vt:lpstr>
      <vt:lpstr>Összegzés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415</cp:revision>
  <dcterms:created xsi:type="dcterms:W3CDTF">2026-04-08T10:04:09Z</dcterms:created>
  <dcterms:modified xsi:type="dcterms:W3CDTF">2026-04-16T18:14:54Z</dcterms:modified>
</cp:coreProperties>
</file>